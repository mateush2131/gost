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22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32C8-69A7-458B-9684-2BFA64B31948}" type="datetime2">
              <a:rPr lang="en-US" smtClean="0"/>
              <a:t>Tuesday, September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A3A3-94A6-4E5B-AF39-173ACA3E61CC}" type="datetime2">
              <a:rPr lang="en-US" smtClean="0"/>
              <a:t>Tuesday, September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D019-A32C-4EAD-B8E6-DBDA699692FD}" type="datetime2">
              <a:rPr lang="en-US" smtClean="0"/>
              <a:t>Tuesday, September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A98F-560C-4997-81C4-81D4D9187EAB}" type="datetime2">
              <a:rPr lang="en-US" smtClean="0"/>
              <a:t>Tuesday, September 29,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72B2-CA5C-437D-87D0-8081271A9E4B}" type="datetime2">
              <a:rPr lang="en-US" smtClean="0"/>
              <a:t>Tuesday, September 29,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Tuesday, September 29,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457A-3AB9-4880-8A0C-9F8524491207}" type="datetime2">
              <a:rPr lang="en-US" smtClean="0"/>
              <a:t>Tuesday, September 29,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6D3-5B7F-4300-ABED-C91F1B2AE209}" type="datetime2">
              <a:rPr lang="en-US" smtClean="0"/>
              <a:t>Tuesday, September 29,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1E59-17DD-41CE-97CA-624A472382D4}" type="datetime2">
              <a:rPr lang="en-US" smtClean="0"/>
              <a:t>Tuesday, September 29,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Tuesday, September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Tuesday, September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80CB818-7379-467D-8E76-EF9D9074A26C}" type="datetime2">
              <a:rPr lang="en-US" smtClean="0"/>
              <a:t>Tuesday, September 29,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CFEC368-1D7A-4F81-ABF6-AE0E36BAF6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microsoft.com/office/2007/relationships/hdphoto" Target="../media/hdphoto4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microsoft.com/office/2007/relationships/hdphoto" Target="../media/hdphoto6.wdp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000" dirty="0"/>
              <a:t>Информационные знаки (продолжение)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800" i="1" dirty="0"/>
              <a:t>Знаки соответствия</a:t>
            </a:r>
          </a:p>
          <a:p>
            <a:r>
              <a:rPr lang="ru-RU" sz="2800" i="1" dirty="0"/>
              <a:t>Знаки обращения на рынке</a:t>
            </a:r>
          </a:p>
          <a:p>
            <a:r>
              <a:rPr lang="ru-RU" sz="2800" i="1" dirty="0"/>
              <a:t>Знаки качества</a:t>
            </a:r>
          </a:p>
        </p:txBody>
      </p:sp>
    </p:spTree>
    <p:extLst>
      <p:ext uri="{BB962C8B-B14F-4D97-AF65-F5344CB8AC3E}">
        <p14:creationId xmlns:p14="http://schemas.microsoft.com/office/powerpoint/2010/main" val="761976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340120"/>
            <a:ext cx="8229600" cy="990600"/>
          </a:xfrm>
        </p:spPr>
        <p:txBody>
          <a:bodyPr>
            <a:normAutofit/>
          </a:bodyPr>
          <a:lstStyle/>
          <a:p>
            <a:r>
              <a:rPr lang="ru-RU" sz="3200" dirty="0"/>
              <a:t>Знаки соответствия и обращения на рынке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Знак соответствия </a:t>
            </a:r>
            <a:r>
              <a:rPr lang="ru-RU" dirty="0"/>
              <a:t>– обозначение, служащее для информирования приобретателей, в том числе потребителей, о соответствии объекта сертификации требованиям системы добровольной сертификации или национальному стандарту;</a:t>
            </a:r>
          </a:p>
          <a:p>
            <a:r>
              <a:rPr lang="ru-RU" b="1" dirty="0"/>
              <a:t>Знак обращения на рынке </a:t>
            </a:r>
            <a:r>
              <a:rPr lang="ru-RU" dirty="0"/>
              <a:t>– обозначение, служащее для информирования приобретателей, в том числе потребителей о соответствии выпускаемой в обращение продукции требованиям ТР</a:t>
            </a:r>
          </a:p>
          <a:p>
            <a:endParaRPr lang="ru-RU" dirty="0"/>
          </a:p>
          <a:p>
            <a:pPr marL="0" indent="0" algn="r">
              <a:buNone/>
            </a:pPr>
            <a:r>
              <a:rPr lang="ru-RU" dirty="0"/>
              <a:t>ФЗ «О техническом регулировании»</a:t>
            </a:r>
          </a:p>
        </p:txBody>
      </p:sp>
    </p:spTree>
    <p:extLst>
      <p:ext uri="{BB962C8B-B14F-4D97-AF65-F5344CB8AC3E}">
        <p14:creationId xmlns:p14="http://schemas.microsoft.com/office/powerpoint/2010/main" val="1014956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41748" y="2160207"/>
            <a:ext cx="8338140" cy="65616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800" b="1" i="1" dirty="0">
                <a:solidFill>
                  <a:schemeClr val="tx2">
                    <a:lumMod val="50000"/>
                  </a:schemeClr>
                </a:solidFill>
              </a:rPr>
              <a:t>Российский знак обращения продукции на  рынке</a:t>
            </a:r>
          </a:p>
          <a:p>
            <a:pPr marL="0" indent="0" algn="ctr">
              <a:buNone/>
            </a:pPr>
            <a:r>
              <a:rPr lang="ru-RU" sz="1800" b="1" i="1" dirty="0">
                <a:solidFill>
                  <a:schemeClr val="tx2">
                    <a:lumMod val="50000"/>
                  </a:schemeClr>
                </a:solidFill>
              </a:rPr>
              <a:t> (применяется при обязательной сертификации и декларировании)</a:t>
            </a: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851" y="369568"/>
            <a:ext cx="4797194" cy="1790638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153" y="3074281"/>
            <a:ext cx="1918879" cy="1683497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192" y="3074281"/>
            <a:ext cx="1767026" cy="1774950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813" y="3074281"/>
            <a:ext cx="1900250" cy="1780332"/>
          </a:xfrm>
          <a:prstGeom prst="rect">
            <a:avLst/>
          </a:prstGeom>
        </p:spPr>
      </p:pic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6" y="3074281"/>
            <a:ext cx="1808558" cy="1882544"/>
          </a:xfrm>
          <a:prstGeom prst="rect">
            <a:avLst/>
          </a:prstGeom>
        </p:spPr>
      </p:pic>
      <p:sp>
        <p:nvSpPr>
          <p:cNvPr id="9" name="Содержимое 2"/>
          <p:cNvSpPr txBox="1">
            <a:spLocks/>
          </p:cNvSpPr>
          <p:nvPr/>
        </p:nvSpPr>
        <p:spPr>
          <a:xfrm>
            <a:off x="207073" y="5277518"/>
            <a:ext cx="8936927" cy="15804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ru-RU" sz="1800" b="1" i="1" dirty="0">
                <a:solidFill>
                  <a:schemeClr val="tx2">
                    <a:lumMod val="50000"/>
                  </a:schemeClr>
                </a:solidFill>
              </a:rPr>
              <a:t>Знаки соответствия в разных системах сертификации:</a:t>
            </a:r>
          </a:p>
          <a:p>
            <a:pPr marL="0" indent="0" algn="ctr">
              <a:buFont typeface="Arial" pitchFamily="34" charset="0"/>
              <a:buNone/>
            </a:pPr>
            <a:r>
              <a:rPr lang="ru-RU" sz="1800" b="1" i="1" dirty="0">
                <a:solidFill>
                  <a:schemeClr val="tx2">
                    <a:lumMod val="50000"/>
                  </a:schemeClr>
                </a:solidFill>
              </a:rPr>
              <a:t>1 – знак соответствия системы менеджмента качества; 2 – знак соответствия системы добровольной сертификации; 3 –знак соответствия при обязательной сертификации; 4 – знак соответствия требованиям национального стандарта РФ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8633" y="4877408"/>
            <a:ext cx="327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0939" y="4849231"/>
            <a:ext cx="327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/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1284" y="4821876"/>
            <a:ext cx="327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/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0298" y="4960551"/>
            <a:ext cx="327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25951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406400"/>
            <a:ext cx="8229600" cy="990600"/>
          </a:xfrm>
        </p:spPr>
        <p:txBody>
          <a:bodyPr/>
          <a:lstStyle/>
          <a:p>
            <a:r>
              <a:rPr lang="ru-RU" dirty="0"/>
              <a:t>Национальный знак соответствия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956" y="1346200"/>
            <a:ext cx="8229600" cy="1533702"/>
          </a:xfrm>
        </p:spPr>
        <p:txBody>
          <a:bodyPr/>
          <a:lstStyle/>
          <a:p>
            <a:r>
              <a:rPr lang="ru-RU" dirty="0"/>
              <a:t>знак, подтверждающий  соответствие требованиям, установленным национальными стандартами или другими нормативными документами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3604" y="2879902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000500" lvl="8" indent="-342900" algn="ctr">
              <a:buFont typeface="Wingdings" charset="2"/>
              <a:buChar char="Ø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Знак соответствия разрешается использовать </a:t>
            </a:r>
          </a:p>
          <a:p>
            <a:pPr algn="ctr"/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для маркирования только сертифицированной продукции</a:t>
            </a: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353191" y="1016000"/>
            <a:ext cx="0" cy="4529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353191" y="4459111"/>
            <a:ext cx="9309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353191" y="5545667"/>
            <a:ext cx="9309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1284111" y="3927501"/>
            <a:ext cx="4910667" cy="74788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1284111" y="4909010"/>
            <a:ext cx="4910667" cy="9906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1524000" y="4301446"/>
            <a:ext cx="4520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/>
              <a:t>общие для всех видов продукции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359" y="5036501"/>
            <a:ext cx="47017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/>
              <a:t>групповые </a:t>
            </a:r>
          </a:p>
          <a:p>
            <a:pPr algn="ctr"/>
            <a:r>
              <a:rPr lang="ru-RU" sz="2000" b="1" dirty="0"/>
              <a:t>(для групп однородной продукции)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715" y="5899610"/>
            <a:ext cx="73412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i="1" dirty="0">
                <a:solidFill>
                  <a:srgbClr val="0000FF"/>
                </a:solidFill>
              </a:rPr>
              <a:t>Источник: «Знаки соответствия стандартам» </a:t>
            </a:r>
          </a:p>
          <a:p>
            <a:r>
              <a:rPr lang="ru-RU" sz="2000" b="1" i="1" dirty="0">
                <a:solidFill>
                  <a:srgbClr val="0000FF"/>
                </a:solidFill>
              </a:rPr>
              <a:t>Международная организация по стандартизации ИСО</a:t>
            </a:r>
            <a:r>
              <a:rPr lang="ru-RU" b="1" dirty="0">
                <a:solidFill>
                  <a:srgbClr val="0000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59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83444" y="392289"/>
            <a:ext cx="87630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H</a:t>
            </a:r>
            <a:r>
              <a:rPr lang="ru-RU" sz="3200" dirty="0" err="1"/>
              <a:t>ациональные</a:t>
            </a:r>
            <a:r>
              <a:rPr lang="ru-RU" sz="3200" dirty="0"/>
              <a:t> знаки соответствия зарубежных стран</a:t>
            </a:r>
          </a:p>
        </p:txBody>
      </p:sp>
      <p:pic>
        <p:nvPicPr>
          <p:cNvPr id="8" name="Изображение 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8000"/>
                    </a14:imgEffect>
                    <a14:imgEffect>
                      <a14:brightnessContrast contrast="43000"/>
                    </a14:imgEffect>
                  </a14:imgLayer>
                </a14:imgProps>
              </a:ext>
            </a:extLst>
          </a:blip>
          <a:srcRect t="-2" b="10426"/>
          <a:stretch/>
        </p:blipFill>
        <p:spPr>
          <a:xfrm>
            <a:off x="33866" y="1524000"/>
            <a:ext cx="7556500" cy="3412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3444" y="4936800"/>
            <a:ext cx="916673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1-</a:t>
            </a:r>
            <a:r>
              <a:rPr lang="ru-RU" dirty="0"/>
              <a:t>национальный знак соответствия стандартам Германии для электрического и </a:t>
            </a:r>
          </a:p>
          <a:p>
            <a:r>
              <a:rPr lang="ru-RU" dirty="0"/>
              <a:t>неэлектрического оборудования</a:t>
            </a:r>
            <a:r>
              <a:rPr lang="en-US" dirty="0"/>
              <a:t>  </a:t>
            </a:r>
            <a:r>
              <a:rPr lang="ru-RU" dirty="0"/>
              <a:t>(«</a:t>
            </a:r>
            <a:r>
              <a:rPr lang="en-US" dirty="0"/>
              <a:t>DIN</a:t>
            </a:r>
            <a:r>
              <a:rPr lang="ru-RU" dirty="0"/>
              <a:t>»);</a:t>
            </a:r>
          </a:p>
          <a:p>
            <a:r>
              <a:rPr lang="ru-RU" dirty="0"/>
              <a:t>2- национальный знак стандартов безопасности Польши;</a:t>
            </a:r>
          </a:p>
          <a:p>
            <a:r>
              <a:rPr lang="ru-RU" dirty="0"/>
              <a:t>3- знак соответствия австрийским стандартам («</a:t>
            </a:r>
            <a:r>
              <a:rPr lang="en-US" dirty="0"/>
              <a:t>ONORM</a:t>
            </a:r>
            <a:r>
              <a:rPr lang="ru-RU" dirty="0"/>
              <a:t>»);</a:t>
            </a:r>
            <a:endParaRPr lang="en-US" dirty="0"/>
          </a:p>
          <a:p>
            <a:r>
              <a:rPr lang="en-US" dirty="0"/>
              <a:t>4- </a:t>
            </a:r>
            <a:r>
              <a:rPr lang="ru-RU" dirty="0"/>
              <a:t>знак для продовольственных товаров, сельскохозяйственной продукции Японии;</a:t>
            </a:r>
          </a:p>
          <a:p>
            <a:r>
              <a:rPr lang="ru-RU" dirty="0"/>
              <a:t>5- знак для электрического и неэлектрического оборудования Франции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3423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Транснациональные (региональные) знаки соответствия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778000"/>
            <a:ext cx="8229600" cy="860778"/>
          </a:xfrm>
        </p:spPr>
        <p:txBody>
          <a:bodyPr/>
          <a:lstStyle/>
          <a:p>
            <a:r>
              <a:rPr lang="ru-RU" dirty="0"/>
              <a:t>знаки, подтверждающие соответствие требованиям, установленными региональными стандартами и ТР </a:t>
            </a: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4000"/>
                    </a14:imgEffect>
                    <a14:imgEffect>
                      <a14:brightnessContrast contras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4274" y="2798233"/>
            <a:ext cx="7856504" cy="190076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05556" y="4699000"/>
            <a:ext cx="777522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Транснациональные знаки соответствия: </a:t>
            </a:r>
          </a:p>
          <a:p>
            <a:pPr algn="ctr"/>
            <a:r>
              <a:rPr lang="ru-RU" sz="2000" dirty="0"/>
              <a:t>а — знак Европейского комитета по стандартизации, </a:t>
            </a:r>
          </a:p>
          <a:p>
            <a:pPr algn="ctr"/>
            <a:r>
              <a:rPr lang="ru-RU" sz="2000" dirty="0"/>
              <a:t>б — знак Европейской электротехнической комиссии; </a:t>
            </a:r>
          </a:p>
          <a:p>
            <a:pPr algn="ctr"/>
            <a:r>
              <a:rPr lang="ru-RU" sz="2000" dirty="0"/>
              <a:t>в — знак соответствия Европейским нормам стран — членов ЕС</a:t>
            </a:r>
          </a:p>
        </p:txBody>
      </p:sp>
    </p:spTree>
    <p:extLst>
      <p:ext uri="{BB962C8B-B14F-4D97-AF65-F5344CB8AC3E}">
        <p14:creationId xmlns:p14="http://schemas.microsoft.com/office/powerpoint/2010/main" val="2518995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45" y="1377245"/>
            <a:ext cx="3405011" cy="3223630"/>
          </a:xfrm>
          <a:prstGeom prst="rect">
            <a:avLst/>
          </a:prstGeom>
        </p:spPr>
      </p:pic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80155" y="4377267"/>
            <a:ext cx="8229600" cy="897467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Единый знак обращения продукции на рынке государств – членов Таможенного союза</a:t>
            </a:r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955" y="1588912"/>
            <a:ext cx="2952385" cy="2545644"/>
          </a:xfrm>
          <a:prstGeom prst="rect">
            <a:avLst/>
          </a:prstGeom>
        </p:spPr>
      </p:pic>
      <p:sp>
        <p:nvSpPr>
          <p:cNvPr id="6" name="Название 1"/>
          <p:cNvSpPr>
            <a:spLocks noGrp="1"/>
          </p:cNvSpPr>
          <p:nvPr>
            <p:ph type="title"/>
          </p:nvPr>
        </p:nvSpPr>
        <p:spPr>
          <a:xfrm>
            <a:off x="457200" y="386645"/>
            <a:ext cx="8229600" cy="990600"/>
          </a:xfrm>
        </p:spPr>
        <p:txBody>
          <a:bodyPr>
            <a:noAutofit/>
          </a:bodyPr>
          <a:lstStyle/>
          <a:p>
            <a:r>
              <a:rPr lang="ru-RU" sz="2800" i="1" dirty="0">
                <a:latin typeface="+mn-lt"/>
              </a:rPr>
              <a:t>Пример транснационального (регионального) знака соответствия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845" y="5359780"/>
            <a:ext cx="91230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ctr">
              <a:buFont typeface="Wingdings" charset="2"/>
              <a:buChar char="Ø"/>
            </a:pPr>
            <a:r>
              <a:rPr lang="ru-RU" b="1" dirty="0">
                <a:solidFill>
                  <a:schemeClr val="tx2">
                    <a:lumMod val="50000"/>
                  </a:schemeClr>
                </a:solidFill>
              </a:rPr>
              <a:t>Утвержден решение Комиссии Таможенного союза от 15 июля 2011 г. № 711</a:t>
            </a:r>
          </a:p>
          <a:p>
            <a:pPr algn="ctr"/>
            <a:r>
              <a:rPr lang="ru-RU" b="1" dirty="0">
                <a:solidFill>
                  <a:schemeClr val="tx2">
                    <a:lumMod val="50000"/>
                  </a:schemeClr>
                </a:solidFill>
              </a:rPr>
              <a:t>«О едином знаке обращения продукции на рынке государств – членов </a:t>
            </a:r>
          </a:p>
          <a:p>
            <a:pPr algn="ctr"/>
            <a:r>
              <a:rPr lang="ru-RU" b="1" dirty="0">
                <a:solidFill>
                  <a:schemeClr val="tx2">
                    <a:lumMod val="50000"/>
                  </a:schemeClr>
                </a:solidFill>
              </a:rPr>
              <a:t>Таможенного союза»</a:t>
            </a:r>
          </a:p>
        </p:txBody>
      </p:sp>
    </p:spTree>
    <p:extLst>
      <p:ext uri="{BB962C8B-B14F-4D97-AF65-F5344CB8AC3E}">
        <p14:creationId xmlns:p14="http://schemas.microsoft.com/office/powerpoint/2010/main" val="2374734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14867" y="115712"/>
            <a:ext cx="8229600" cy="990600"/>
          </a:xfrm>
        </p:spPr>
        <p:txBody>
          <a:bodyPr/>
          <a:lstStyle/>
          <a:p>
            <a:r>
              <a:rPr lang="ru-RU" dirty="0"/>
              <a:t>Знаки качества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14867" y="979311"/>
            <a:ext cx="8229600" cy="1744133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ru-RU" dirty="0"/>
              <a:t>знак, подтверждающий качество продукции, который может присваиваться не только органами по сертификации, но и другими организациями, не входящими в национальную система сертификации</a:t>
            </a: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144" y="3153452"/>
            <a:ext cx="2013656" cy="2013656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4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80444" y="3457221"/>
            <a:ext cx="2949223" cy="2949223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5524" y="2726971"/>
            <a:ext cx="2087863" cy="1633362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46000"/>
                    </a14:imgEffect>
                    <a14:imgEffect>
                      <a14:brightnessContrast contrast="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32111" y="2723444"/>
            <a:ext cx="2060222" cy="20602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6666" y="4414334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2399" y="478366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74843" y="5176984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3510" y="5361650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191" y="5730982"/>
            <a:ext cx="80218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/>
              <a:t>Знаки качества разных стран:</a:t>
            </a:r>
          </a:p>
          <a:p>
            <a:pPr algn="ctr"/>
            <a:r>
              <a:rPr lang="ru-RU" b="1" dirty="0"/>
              <a:t>1 – США; 2 – Австрия; 3 – знак качества «Российская марка»; </a:t>
            </a:r>
          </a:p>
          <a:p>
            <a:pPr algn="ctr"/>
            <a:r>
              <a:rPr lang="ru-RU" b="1" dirty="0"/>
              <a:t>4 – «Всероссийская марка (</a:t>
            </a:r>
            <a:r>
              <a:rPr lang="en-US" b="1" dirty="0"/>
              <a:t>III </a:t>
            </a:r>
            <a:r>
              <a:rPr lang="ru-RU" b="1" dirty="0"/>
              <a:t>тысячелетие). Знак качества </a:t>
            </a:r>
            <a:r>
              <a:rPr lang="en-US" b="1" dirty="0"/>
              <a:t>XXI </a:t>
            </a:r>
            <a:r>
              <a:rPr lang="ru-RU" b="1" dirty="0"/>
              <a:t>века»</a:t>
            </a:r>
          </a:p>
        </p:txBody>
      </p:sp>
    </p:spTree>
    <p:extLst>
      <p:ext uri="{BB962C8B-B14F-4D97-AF65-F5344CB8AC3E}">
        <p14:creationId xmlns:p14="http://schemas.microsoft.com/office/powerpoint/2010/main" val="622988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349956"/>
            <a:ext cx="8229600" cy="990600"/>
          </a:xfrm>
        </p:spPr>
        <p:txBody>
          <a:bodyPr>
            <a:noAutofit/>
          </a:bodyPr>
          <a:lstStyle/>
          <a:p>
            <a:r>
              <a:rPr lang="ru-RU" sz="3200" dirty="0"/>
              <a:t>Конкурсы и премии на присвоение права маркировать товары знаком качества: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Премия Правительства РФ в области качества;</a:t>
            </a:r>
          </a:p>
          <a:p>
            <a:r>
              <a:rPr lang="ru-RU" dirty="0"/>
              <a:t>Программа «100 лучших товаров России»;</a:t>
            </a:r>
          </a:p>
          <a:p>
            <a:r>
              <a:rPr lang="ru-RU" dirty="0"/>
              <a:t>Первая национальная Программа продвижения российских товаров, услуг и технологий «Российская марка»;</a:t>
            </a:r>
            <a:r>
              <a:rPr lang="ru-RU" b="1" dirty="0"/>
              <a:t> </a:t>
            </a:r>
          </a:p>
          <a:p>
            <a:r>
              <a:rPr lang="ru-RU" dirty="0"/>
              <a:t>Программа «Всероссийская марка (</a:t>
            </a:r>
            <a:r>
              <a:rPr lang="en-US" dirty="0"/>
              <a:t>III </a:t>
            </a:r>
            <a:r>
              <a:rPr lang="ru-RU" dirty="0"/>
              <a:t>тысячелетие). Знак качества </a:t>
            </a:r>
            <a:r>
              <a:rPr lang="en-US" dirty="0"/>
              <a:t>XXI </a:t>
            </a:r>
            <a:r>
              <a:rPr lang="ru-RU" dirty="0"/>
              <a:t>века»;</a:t>
            </a:r>
          </a:p>
          <a:p>
            <a:r>
              <a:rPr lang="ru-RU" dirty="0"/>
              <a:t>Всероссийская межотраслевая выставка отечественных товаров «Покупайте российское»;</a:t>
            </a:r>
          </a:p>
          <a:p>
            <a:r>
              <a:rPr lang="ru-RU" dirty="0"/>
              <a:t>Национальный конкурс на лучшую парфюмерно – косметическую продукцию года;</a:t>
            </a:r>
          </a:p>
          <a:p>
            <a:r>
              <a:rPr lang="ru-RU" dirty="0"/>
              <a:t> Знак «ПРОВЕРЕНО» (Союз потребителей России);</a:t>
            </a:r>
          </a:p>
          <a:p>
            <a:r>
              <a:rPr lang="ru-RU" dirty="0"/>
              <a:t>Национальные конкурсы марочных товаров «Народная марка» и «Бренд года» и другие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6463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3000"/>
                    </a14:imgEffect>
                    <a14:imgEffect>
                      <a14:brightnessContrast contrast="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3633" y="423333"/>
            <a:ext cx="4542875" cy="6434667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0444" y="2949222"/>
            <a:ext cx="2794000" cy="2781300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contras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90444" y="636411"/>
            <a:ext cx="2862390" cy="23128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81618" y="6164056"/>
            <a:ext cx="34092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Российские знаки качества</a:t>
            </a:r>
          </a:p>
        </p:txBody>
      </p:sp>
    </p:spTree>
    <p:extLst>
      <p:ext uri="{BB962C8B-B14F-4D97-AF65-F5344CB8AC3E}">
        <p14:creationId xmlns:p14="http://schemas.microsoft.com/office/powerpoint/2010/main" val="925484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551C48-8A75-4D82-8FFD-C9A917995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Знаки </a:t>
            </a:r>
            <a:r>
              <a:rPr lang="ru-RU" dirty="0" err="1"/>
              <a:t>аккридетации</a:t>
            </a:r>
            <a:r>
              <a:rPr lang="ru-RU" dirty="0"/>
              <a:t> и сертификации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9A49F8-FFFC-410A-AFE5-6EA4CEB78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Знак ЕАС (</a:t>
            </a:r>
            <a:r>
              <a:rPr lang="ru-RU" dirty="0" err="1"/>
              <a:t>Eurasian</a:t>
            </a:r>
            <a:r>
              <a:rPr lang="ru-RU" dirty="0"/>
              <a:t> </a:t>
            </a:r>
            <a:r>
              <a:rPr lang="ru-RU" dirty="0" err="1"/>
              <a:t>Conformity</a:t>
            </a:r>
            <a:r>
              <a:rPr lang="ru-RU" dirty="0"/>
              <a:t>) — единый знак обращения на рынке стран ЕАЭС. Наносится на товары, прошедшие обязательную сертификацию или декларирование по Техническим регламенте</a:t>
            </a:r>
          </a:p>
          <a:p>
            <a:r>
              <a:rPr lang="ru-RU" dirty="0"/>
              <a:t>Знак ГОСТ Р (с кодом органа) — знак обязательной сертификации в национальной системе РФ. Под буквами «РСТ» обязательно проставляется буквенно-цифровой код выдавшей его лаборатории/</a:t>
            </a:r>
            <a:r>
              <a:rPr lang="ru-RU" dirty="0" err="1"/>
              <a:t>органа.нтам</a:t>
            </a:r>
            <a:r>
              <a:rPr lang="ru-RU" dirty="0"/>
              <a:t> союза</a:t>
            </a:r>
          </a:p>
          <a:p>
            <a:r>
              <a:rPr lang="ru-RU" dirty="0"/>
              <a:t>Знак ГОСТ Р при декларировании — графическое изображение «РСТ» без указания кода органа под ним. Показывает, что на товар оформлена обязательная декларация о соответствии в системе ГОСТ Р</a:t>
            </a:r>
          </a:p>
          <a:p>
            <a:r>
              <a:rPr lang="ru-RU" dirty="0"/>
              <a:t>Знак СТР (Знак соответствия техническому регламенту РФ) — применяется для продукции, которая подлежит обязательной проверке по национальным техрегламентам России 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1143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2731F0-3C78-43CD-BC8D-94E345DEB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Знаки национальной системы аккредитации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9196BB-23F1-4523-9023-A4520D964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5. Базовый знак НСА — единый знак национальной системы аккредитации. Содержит государственный символ Федеральной службы («</a:t>
            </a:r>
            <a:r>
              <a:rPr lang="ru-RU" dirty="0" err="1"/>
              <a:t>Росаккредитация</a:t>
            </a:r>
            <a:r>
              <a:rPr lang="ru-RU" dirty="0"/>
              <a:t>») и уникальный номер записи в реестре.</a:t>
            </a:r>
            <a:br>
              <a:rPr lang="ru-RU" dirty="0"/>
            </a:br>
            <a:r>
              <a:rPr lang="ru-RU" dirty="0"/>
              <a:t>6. Комбинированный знак ILAC MRA — совмещенный знак Федеральной службы по аккредитации и Международной организации по аккредитации лабораторий (ILAC). Выдается испытательным центрам для признания их протоколов за рубежом.</a:t>
            </a:r>
            <a:br>
              <a:rPr lang="ru-RU" dirty="0"/>
            </a:br>
            <a:r>
              <a:rPr lang="ru-RU" dirty="0"/>
              <a:t>7. Знак аккредитации Органов по сертификации — специализированная версия знака </a:t>
            </a:r>
            <a:r>
              <a:rPr lang="ru-RU" dirty="0" err="1"/>
              <a:t>Росаккредитации</a:t>
            </a:r>
            <a:r>
              <a:rPr lang="ru-RU" dirty="0"/>
              <a:t> с пиктограммой, указывающей, что данное юридическое лицо имеет законное право выдавать сертификаты соответствия.</a:t>
            </a:r>
            <a:br>
              <a:rPr lang="ru-RU" dirty="0"/>
            </a:br>
            <a:r>
              <a:rPr lang="ru-RU" dirty="0"/>
              <a:t>8. Знак аккредитации Испытательных лабораторий — версия знака НСА со специфической пиктограммой (колба/микроскоп), размещаемая лабораториями на официальных протоколах испытаний. </a:t>
            </a:r>
          </a:p>
        </p:txBody>
      </p:sp>
    </p:spTree>
    <p:extLst>
      <p:ext uri="{BB962C8B-B14F-4D97-AF65-F5344CB8AC3E}">
        <p14:creationId xmlns:p14="http://schemas.microsoft.com/office/powerpoint/2010/main" val="3442970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A7697E-85E3-4830-85E6-3820C1C75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Знаки добровольной сертификации (СДС) и качества продукции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1944C0-70C7-44F7-9C43-4C5C43561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Добровольный знак ГОСТ Р — графический знак «РСТ», вокруг которого по контуру нанесена надпись «Добровольная сертификация». </a:t>
            </a:r>
          </a:p>
          <a:p>
            <a:r>
              <a:rPr lang="ru-RU" dirty="0"/>
              <a:t>Российский знак качества (</a:t>
            </a:r>
            <a:r>
              <a:rPr lang="ru-RU" dirty="0" err="1"/>
              <a:t>Роскачество</a:t>
            </a:r>
            <a:r>
              <a:rPr lang="ru-RU" dirty="0"/>
              <a:t>) — пятиугольник с буквой «К» внутри. Присваивается отечественным товарам, которые в ходе независимых веерных исследований превзошли действующие ГОСТы. </a:t>
            </a:r>
          </a:p>
          <a:p>
            <a:r>
              <a:rPr lang="ru-RU" dirty="0" err="1"/>
              <a:t>Экомаркировка</a:t>
            </a:r>
            <a:r>
              <a:rPr lang="ru-RU" dirty="0"/>
              <a:t> «Листок жизни» — единственный российский экологический знак, признанный на международном уровне Всемирной ассоциацией </a:t>
            </a:r>
            <a:r>
              <a:rPr lang="ru-RU" dirty="0" err="1"/>
              <a:t>экомаркировки</a:t>
            </a:r>
            <a:r>
              <a:rPr lang="ru-RU" dirty="0"/>
              <a:t> (GEN). Гарантирует безопасность продукта "от сырья до утилизации". </a:t>
            </a:r>
          </a:p>
          <a:p>
            <a:r>
              <a:rPr lang="ru-RU" dirty="0"/>
              <a:t>Знак «Сделано в России» (</a:t>
            </a:r>
            <a:r>
              <a:rPr lang="ru-RU" dirty="0" err="1"/>
              <a:t>Made</a:t>
            </a:r>
            <a:r>
              <a:rPr lang="ru-RU" dirty="0"/>
              <a:t> </a:t>
            </a:r>
            <a:r>
              <a:rPr lang="ru-RU" dirty="0" err="1"/>
              <a:t>in</a:t>
            </a:r>
            <a:r>
              <a:rPr lang="ru-RU" dirty="0"/>
              <a:t> </a:t>
            </a:r>
            <a:r>
              <a:rPr lang="ru-RU" dirty="0" err="1"/>
              <a:t>Russia</a:t>
            </a:r>
            <a:r>
              <a:rPr lang="ru-RU" dirty="0"/>
              <a:t>) — птичка в цветах российского флага (система добровольной сертификации Российского экспортного центра). Подтверждает надежность компании и российское происхождение сырья. </a:t>
            </a:r>
          </a:p>
          <a:p>
            <a:r>
              <a:rPr lang="ru-RU" dirty="0"/>
              <a:t>Знак «100 лучших товаров России» — логотип известной одноименной общественно-государственной программы. Право на его использование компании получают на два года по итогам конкурсного отбора. </a:t>
            </a:r>
          </a:p>
          <a:p>
            <a:r>
              <a:rPr lang="ru-RU" dirty="0"/>
              <a:t>Знак «Органик» (Зеленый лист РФ) — официальный государственный знак Минсельхоза РФ для сертифицированных органических продуктов. Использование знака без прохождения жесткой процедуры контроля по закону запрещено.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86098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Ясность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Ясность.thmx</Template>
  <TotalTime>168</TotalTime>
  <Words>911</Words>
  <Application>Microsoft Office PowerPoint</Application>
  <PresentationFormat>Экран (4:3)</PresentationFormat>
  <Paragraphs>79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Wingdings</vt:lpstr>
      <vt:lpstr>Ясность</vt:lpstr>
      <vt:lpstr>Информационные знаки (продолжение)</vt:lpstr>
      <vt:lpstr>Знаки соответствия и обращения на рынке</vt:lpstr>
      <vt:lpstr>Презентация PowerPoint</vt:lpstr>
      <vt:lpstr>Национальный знак соответствия</vt:lpstr>
      <vt:lpstr>Hациональные знаки соответствия зарубежных стран</vt:lpstr>
      <vt:lpstr>Транснациональные (региональные) знаки соответствия</vt:lpstr>
      <vt:lpstr>Пример транснационального (регионального) знака соответствия</vt:lpstr>
      <vt:lpstr>Знаки качества</vt:lpstr>
      <vt:lpstr>Конкурсы и премии на присвоение права маркировать товары знаком качества:</vt:lpstr>
      <vt:lpstr>Презентация PowerPoint</vt:lpstr>
      <vt:lpstr>Знаки аккридетации и сертификации </vt:lpstr>
      <vt:lpstr>Знаки национальной системы аккредитации </vt:lpstr>
      <vt:lpstr>Знаки добровольной сертификации (СДС) и качества продукции</vt:lpstr>
    </vt:vector>
  </TitlesOfParts>
  <Company>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Информационные знаки (продолжение)</dc:title>
  <dc:creator>Валерия 1</dc:creator>
  <cp:lastModifiedBy>Admin</cp:lastModifiedBy>
  <cp:revision>50</cp:revision>
  <dcterms:created xsi:type="dcterms:W3CDTF">2016-11-14T20:06:48Z</dcterms:created>
  <dcterms:modified xsi:type="dcterms:W3CDTF">2026-09-29T14:34:23Z</dcterms:modified>
</cp:coreProperties>
</file>